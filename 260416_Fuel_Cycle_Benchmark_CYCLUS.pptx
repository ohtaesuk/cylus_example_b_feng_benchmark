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835" r:id="rId4"/>
    <p:sldId id="837" r:id="rId5"/>
    <p:sldId id="838" r:id="rId6"/>
    <p:sldId id="839" r:id="rId7"/>
    <p:sldId id="836" r:id="rId8"/>
    <p:sldId id="840" r:id="rId9"/>
    <p:sldId id="841" r:id="rId10"/>
    <p:sldId id="842" r:id="rId11"/>
    <p:sldId id="843" r:id="rId12"/>
    <p:sldId id="844" r:id="rId13"/>
    <p:sldId id="845" r:id="rId14"/>
    <p:sldId id="834" r:id="rId15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8" autoAdjust="0"/>
    <p:restoredTop sz="96391" autoAdjust="0"/>
  </p:normalViewPr>
  <p:slideViewPr>
    <p:cSldViewPr>
      <p:cViewPr>
        <p:scale>
          <a:sx n="100" d="100"/>
          <a:sy n="100" d="100"/>
        </p:scale>
        <p:origin x="2154" y="456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C5185-B6F1-43AC-B74F-79C86D76244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03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Cycle Benchmark Result</a:t>
            </a:r>
            <a:b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(Rekindling Jin Hwan Bae’s Work)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Reactor Technology Integration Group (</a:t>
            </a:r>
            <a:r>
              <a:rPr lang="en-US" altLang="ko-KR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altLang="ko-KR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April 16</a:t>
            </a:r>
            <a:r>
              <a:rPr lang="en-US" altLang="ko-KR" sz="1600" b="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  <a:p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Taesuk</a:t>
            </a:r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Oh</a:t>
            </a:r>
          </a:p>
          <a:p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Nuclear Engineering &amp; Engineering Physics (NEEP)</a:t>
            </a:r>
          </a:p>
          <a:p>
            <a:r>
              <a:rPr lang="en-US" altLang="ko-KR" sz="1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Wisconsin-Madison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0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Motivation &amp; Objectives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Discussed about ‘large scale modelling’ of fuel cycles using </a:t>
            </a:r>
            <a:r>
              <a:rPr lang="en-US" altLang="ko-KR" dirty="0" err="1"/>
              <a:t>Cyclus</a:t>
            </a:r>
            <a:endParaRPr lang="en-US" altLang="ko-KR" dirty="0"/>
          </a:p>
          <a:p>
            <a:pPr lvl="1"/>
            <a:r>
              <a:rPr lang="en-US" altLang="ko-KR" dirty="0"/>
              <a:t>Found a representative benchmark: devised for comparison between various fuel cycle codes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There is a previous work which used </a:t>
            </a:r>
            <a:r>
              <a:rPr lang="en-US" altLang="ko-KR" dirty="0" err="1"/>
              <a:t>Cyclus</a:t>
            </a:r>
            <a:r>
              <a:rPr lang="en-US" altLang="ko-KR" dirty="0"/>
              <a:t> to model the above benchmark</a:t>
            </a:r>
          </a:p>
          <a:p>
            <a:pPr lvl="2"/>
            <a:r>
              <a:rPr lang="en-US" altLang="ko-KR" dirty="0"/>
              <a:t>Since </a:t>
            </a:r>
            <a:r>
              <a:rPr lang="en-US" altLang="ko-KR" dirty="0" err="1"/>
              <a:t>Cyclus</a:t>
            </a:r>
            <a:r>
              <a:rPr lang="en-US" altLang="ko-KR" dirty="0"/>
              <a:t> employs a discrete time-step simulation, adjustments had been made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Aim to re-kindle the published work &amp; organize the results to serve as a ‘tutorial’</a:t>
            </a:r>
          </a:p>
          <a:p>
            <a:pPr lvl="1"/>
            <a:r>
              <a:rPr lang="en-US" altLang="ko-KR" dirty="0"/>
              <a:t>Original work can be found from Jin Hwan Bae’s Master’s Thesis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6FE9A4-B399-A49D-C3AC-0EE2D9D6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36" y="1412776"/>
            <a:ext cx="7038528" cy="296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B72FE-AAF3-3294-432D-4659DAAA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65F6A4-7B4F-EB46-E0BF-35D208BBB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benchmark considers a 100-year transition scenario (2015–2115) beginning with an initial </a:t>
            </a:r>
          </a:p>
          <a:p>
            <a:r>
              <a:rPr lang="en-US" dirty="0"/>
              <a:t>fleet of 100 light-water reactors (LWRs), each rated at 1 </a:t>
            </a:r>
            <a:r>
              <a:rPr lang="en-US" dirty="0" err="1"/>
              <a:t>Gwe</a:t>
            </a:r>
            <a:endParaRPr lang="en-US" dirty="0"/>
          </a:p>
          <a:p>
            <a:pPr lvl="1"/>
            <a:r>
              <a:rPr lang="en-US" dirty="0"/>
              <a:t>Total electricity demand is held constant at 90 </a:t>
            </a:r>
            <a:r>
              <a:rPr lang="en-US" dirty="0" err="1"/>
              <a:t>GWe</a:t>
            </a:r>
            <a:r>
              <a:rPr lang="en-US" dirty="0"/>
              <a:t>, and the system transitions progressively toward a sodium fast reactor (SFR) fleet </a:t>
            </a:r>
          </a:p>
          <a:p>
            <a:pPr lvl="1"/>
            <a:r>
              <a:rPr lang="en-US" dirty="0"/>
              <a:t>Each retiring LWR is replaced by three 333.3 MWe SFRs, preserving the overall generating    capacity during the transition</a:t>
            </a:r>
          </a:p>
          <a:p>
            <a:pPr lvl="1"/>
            <a:endParaRPr lang="en-US" dirty="0"/>
          </a:p>
          <a:p>
            <a:r>
              <a:rPr lang="en-US" dirty="0"/>
              <a:t>LWR UNF reprocessing begins in 2025 with a fixed throughput of 2000 </a:t>
            </a:r>
            <a:r>
              <a:rPr lang="en-US" dirty="0" err="1"/>
              <a:t>tIHM</a:t>
            </a:r>
            <a:r>
              <a:rPr lang="en-US" dirty="0"/>
              <a:t>/year, while SFR </a:t>
            </a:r>
          </a:p>
          <a:p>
            <a:r>
              <a:rPr lang="en-US" dirty="0"/>
              <a:t>UNF is reprocessed as needed after cooling</a:t>
            </a:r>
          </a:p>
          <a:p>
            <a:pPr lvl="1"/>
            <a:r>
              <a:rPr lang="en-US" dirty="0"/>
              <a:t>Mandatory cooling times are 4 years for LWR UNF and 1 year for SFR UNF</a:t>
            </a:r>
          </a:p>
          <a:p>
            <a:pPr lvl="1"/>
            <a:r>
              <a:rPr lang="en-US" dirty="0"/>
              <a:t>All recovered TRU is recycled into SFR fresh fuel, with recovered uranium reused as fertile makeup material</a:t>
            </a:r>
          </a:p>
          <a:p>
            <a:pPr lvl="1"/>
            <a:r>
              <a:rPr lang="en-US" dirty="0"/>
              <a:t>To isolate the transition dynamics, all fuel cycle process losses are neglected</a:t>
            </a:r>
          </a:p>
          <a:p>
            <a:pPr lvl="1"/>
            <a:r>
              <a:rPr lang="en-US" dirty="0"/>
              <a:t>The benchmark retirement profile is defined such that the SFR deployment rate is maximized while minimizing unused TRU inventory throughout the transition.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E46CB-61AC-5DA6-180B-4EC5856C4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9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7998C-B6DB-480C-AA44-4CB6076D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Description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1F800FA-7388-6B20-3933-E4D80121A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7702" y="617061"/>
            <a:ext cx="4865683" cy="149619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74EA84-3163-C825-F096-06FB3C911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1DA0997-4D7A-0E05-4BEB-5962F7BC1BA0}"/>
              </a:ext>
            </a:extLst>
          </p:cNvPr>
          <p:cNvGrpSpPr/>
          <p:nvPr/>
        </p:nvGrpSpPr>
        <p:grpSpPr>
          <a:xfrm>
            <a:off x="1907704" y="2113259"/>
            <a:ext cx="4865682" cy="2544296"/>
            <a:chOff x="1691680" y="3140968"/>
            <a:chExt cx="5620534" cy="286742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C41F4D5-ABA6-D171-F40E-2A697E1BD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680" y="3140968"/>
              <a:ext cx="5620534" cy="2867425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D8334D0-42C0-0F69-1A9F-24585A93FC1E}"/>
                </a:ext>
              </a:extLst>
            </p:cNvPr>
            <p:cNvSpPr/>
            <p:nvPr/>
          </p:nvSpPr>
          <p:spPr>
            <a:xfrm>
              <a:off x="1907704" y="5075659"/>
              <a:ext cx="5256584" cy="228032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9D44B61-E870-F61D-8901-969827183533}"/>
              </a:ext>
            </a:extLst>
          </p:cNvPr>
          <p:cNvSpPr txBox="1"/>
          <p:nvPr/>
        </p:nvSpPr>
        <p:spPr>
          <a:xfrm>
            <a:off x="6773385" y="3677837"/>
            <a:ext cx="1951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Cyclus</a:t>
            </a:r>
            <a:r>
              <a:rPr lang="en-US" sz="1400" dirty="0">
                <a:solidFill>
                  <a:srgbClr val="FF0000"/>
                </a:solidFill>
              </a:rPr>
              <a:t> cannot model</a:t>
            </a:r>
          </a:p>
          <a:p>
            <a:r>
              <a:rPr lang="en-US" sz="1400" dirty="0">
                <a:solidFill>
                  <a:srgbClr val="FF0000"/>
                </a:solidFill>
              </a:rPr>
              <a:t>non-integer batch </a:t>
            </a:r>
            <a:r>
              <a:rPr lang="en-US" sz="1400" dirty="0" err="1">
                <a:solidFill>
                  <a:srgbClr val="FF0000"/>
                </a:solidFill>
              </a:rPr>
              <a:t>vals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27418FD-3E8F-54A3-7D6A-1EE4F27B5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4657555"/>
            <a:ext cx="4865683" cy="189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9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79715-7B0F-158C-D949-A7716D2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Results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0021898-49FF-BE5B-57B5-5B7904030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74" y="683292"/>
            <a:ext cx="4419725" cy="301538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59EB15-A97F-DB36-C88F-FD1F54308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F4FDAF-C9F9-3141-6628-1B7DB405B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25" y="779804"/>
            <a:ext cx="4570301" cy="29188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4D8684-AA08-A352-6FD8-79BC66362568}"/>
              </a:ext>
            </a:extLst>
          </p:cNvPr>
          <p:cNvSpPr txBox="1"/>
          <p:nvPr/>
        </p:nvSpPr>
        <p:spPr>
          <a:xfrm>
            <a:off x="971600" y="1700808"/>
            <a:ext cx="3049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Problem specifies retirement &amp; </a:t>
            </a:r>
          </a:p>
          <a:p>
            <a:r>
              <a:rPr lang="en-US" sz="1600" dirty="0">
                <a:solidFill>
                  <a:schemeClr val="bg1"/>
                </a:solidFill>
              </a:rPr>
              <a:t>deployment of LWRs and SFRs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548C61-6F9F-F445-230B-CA830ED9683B}"/>
              </a:ext>
            </a:extLst>
          </p:cNvPr>
          <p:cNvSpPr txBox="1"/>
          <p:nvPr/>
        </p:nvSpPr>
        <p:spPr>
          <a:xfrm>
            <a:off x="5724128" y="1810384"/>
            <a:ext cx="3049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 LWR is replaced by 3 SFRs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9B65981-02DF-93BF-C14B-B8CFA9CE8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74" y="3731788"/>
            <a:ext cx="4570300" cy="2649540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5BB0085-07FE-538A-526F-23431E7AA57C}"/>
              </a:ext>
            </a:extLst>
          </p:cNvPr>
          <p:cNvCxnSpPr/>
          <p:nvPr/>
        </p:nvCxnSpPr>
        <p:spPr>
          <a:xfrm>
            <a:off x="2915816" y="5661248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30CA91F-C056-E56C-3A98-399DA2A73770}"/>
              </a:ext>
            </a:extLst>
          </p:cNvPr>
          <p:cNvCxnSpPr/>
          <p:nvPr/>
        </p:nvCxnSpPr>
        <p:spPr>
          <a:xfrm>
            <a:off x="2862858" y="2886844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3DD1EA1-A141-3FED-A599-DC592F9D2FED}"/>
              </a:ext>
            </a:extLst>
          </p:cNvPr>
          <p:cNvCxnSpPr/>
          <p:nvPr/>
        </p:nvCxnSpPr>
        <p:spPr>
          <a:xfrm>
            <a:off x="7236296" y="2886844"/>
            <a:ext cx="36004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2A62DD-8D83-2934-1D71-C52154081FA4}"/>
              </a:ext>
            </a:extLst>
          </p:cNvPr>
          <p:cNvSpPr txBox="1"/>
          <p:nvPr/>
        </p:nvSpPr>
        <p:spPr>
          <a:xfrm>
            <a:off x="1115616" y="4215043"/>
            <a:ext cx="3049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UNF accumulated to deploy 2</a:t>
            </a:r>
            <a:r>
              <a:rPr lang="en-US" sz="1600" baseline="30000" dirty="0">
                <a:solidFill>
                  <a:srgbClr val="FF0000"/>
                </a:solidFill>
              </a:rPr>
              <a:t>nd</a:t>
            </a:r>
            <a:r>
              <a:rPr lang="en-US" sz="1600" dirty="0">
                <a:solidFill>
                  <a:srgbClr val="FF0000"/>
                </a:solidFill>
              </a:rPr>
              <a:t> wave of SFR fleets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B0127CB-1BEF-71DE-9F3D-7F11E4234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474" y="3748557"/>
            <a:ext cx="4267280" cy="263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0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3158C-2F7B-FA8F-167E-F8D5EE02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Results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6EDE5F2-37F9-F738-6A6D-93A0AFEDE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703658"/>
            <a:ext cx="4248472" cy="273258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B09562-FF93-45E0-AE20-2CCE2D4EC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DCBD74-5E3A-A069-D9DA-E6F559BB5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36797"/>
            <a:ext cx="4385754" cy="27621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7779096-66B1-00BC-692C-7D12864A0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16" y="3599952"/>
            <a:ext cx="4320480" cy="27078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913481-5927-5946-CDBB-8073A547A199}"/>
              </a:ext>
            </a:extLst>
          </p:cNvPr>
          <p:cNvSpPr txBox="1"/>
          <p:nvPr/>
        </p:nvSpPr>
        <p:spPr>
          <a:xfrm>
            <a:off x="899592" y="3789040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Limited to 2000t/yr</a:t>
            </a:r>
          </a:p>
        </p:txBody>
      </p:sp>
    </p:spTree>
    <p:extLst>
      <p:ext uri="{BB962C8B-B14F-4D97-AF65-F5344CB8AC3E}">
        <p14:creationId xmlns:p14="http://schemas.microsoft.com/office/powerpoint/2010/main" val="151938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06D70-8EE3-6FCD-92CD-503AB0C9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Cyclus</a:t>
            </a:r>
            <a:r>
              <a:rPr lang="en-US" dirty="0"/>
              <a:t> Modelling </a:t>
            </a:r>
            <a:r>
              <a:rPr lang="en-US" dirty="0" err="1"/>
              <a:t>Assmuption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B09EA-B6C0-8EA7-C900-C29CAFCD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According to Bae’s Thesis:</a:t>
            </a:r>
          </a:p>
          <a:p>
            <a:pPr lvl="1"/>
            <a:r>
              <a:rPr lang="en-US" dirty="0"/>
              <a:t>The CYCAMORE recipe reactor depletes half of its core when decommissioned mid-cycle,   whereas the codes in the benchmark deplete all their reactors’ fuel when decommissioned.</a:t>
            </a:r>
          </a:p>
          <a:p>
            <a:pPr lvl="1"/>
            <a:r>
              <a:rPr lang="en-US" dirty="0"/>
              <a:t>For this study, </a:t>
            </a:r>
            <a:r>
              <a:rPr lang="en-US" dirty="0">
                <a:highlight>
                  <a:srgbClr val="FFFF00"/>
                </a:highlight>
              </a:rPr>
              <a:t>I changed the CYCAMORE Reactor source code to deplete all its assemblies to the depleted recipe</a:t>
            </a:r>
            <a:r>
              <a:rPr lang="en-US" dirty="0"/>
              <a:t>. Also, the CYCAMORE recipe reactor treats each batch (and assembly) as a discrete material, while some codes have continuous fuel discharge.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5492F7-63FE-9353-BA8B-634C13E8E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613AD0-27AF-C257-C8BE-3A386A63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780928"/>
            <a:ext cx="8496944" cy="226585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2D19779-F16C-6B8B-433E-7268BECD11E6}"/>
              </a:ext>
            </a:extLst>
          </p:cNvPr>
          <p:cNvSpPr/>
          <p:nvPr/>
        </p:nvSpPr>
        <p:spPr>
          <a:xfrm>
            <a:off x="395536" y="4725144"/>
            <a:ext cx="8352928" cy="21602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08A1F-0AEC-749B-010C-4982992B345B}"/>
              </a:ext>
            </a:extLst>
          </p:cNvPr>
          <p:cNvSpPr txBox="1"/>
          <p:nvPr/>
        </p:nvSpPr>
        <p:spPr>
          <a:xfrm>
            <a:off x="251520" y="4972397"/>
            <a:ext cx="6558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We can to gauge how the difference in core size manifests in the result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0ACAE6-681A-98A3-F586-CC2A5FAD73BA}"/>
              </a:ext>
            </a:extLst>
          </p:cNvPr>
          <p:cNvSpPr/>
          <p:nvPr/>
        </p:nvSpPr>
        <p:spPr>
          <a:xfrm>
            <a:off x="371922" y="3875754"/>
            <a:ext cx="8352928" cy="21602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8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B623F-5410-F4C1-B924-0FA3B22B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CYCAMORE: Reactor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CABC03-A4CD-CC5B-EF7A-1EEE2F4C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‘Reactor’ Archetype supports two different options for depletion (retirement)</a:t>
            </a:r>
          </a:p>
          <a:p>
            <a:pPr lvl="1"/>
            <a:r>
              <a:rPr lang="en-US" dirty="0"/>
              <a:t>The default option is to transmute half of the core / Keyword ‘</a:t>
            </a:r>
            <a:r>
              <a:rPr lang="en-US" dirty="0" err="1"/>
              <a:t>decom_transmute_all</a:t>
            </a:r>
            <a:r>
              <a:rPr lang="en-US" dirty="0"/>
              <a:t>’</a:t>
            </a:r>
          </a:p>
          <a:p>
            <a:pPr lvl="1"/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3C11E-8811-5454-88FF-34FEC3DE8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02F2CC-2E14-270E-DCE9-28F7661C6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12776"/>
            <a:ext cx="8133537" cy="11882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966D35D-C99E-0A0B-6487-0139ABE23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41" y="2850340"/>
            <a:ext cx="6863655" cy="3215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A23DC8-0787-5DFE-238D-BB71A19D558E}"/>
              </a:ext>
            </a:extLst>
          </p:cNvPr>
          <p:cNvSpPr txBox="1"/>
          <p:nvPr/>
        </p:nvSpPr>
        <p:spPr>
          <a:xfrm>
            <a:off x="2411760" y="2323391"/>
            <a:ext cx="1007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[</a:t>
            </a:r>
            <a:r>
              <a:rPr lang="en-US" sz="1400" dirty="0" err="1">
                <a:solidFill>
                  <a:srgbClr val="FF0000"/>
                </a:solidFill>
              </a:rPr>
              <a:t>reactor.h</a:t>
            </a:r>
            <a:r>
              <a:rPr lang="en-US" sz="14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6FDBD-A234-A2D6-5D36-05E4293DEE25}"/>
              </a:ext>
            </a:extLst>
          </p:cNvPr>
          <p:cNvSpPr txBox="1"/>
          <p:nvPr/>
        </p:nvSpPr>
        <p:spPr>
          <a:xfrm>
            <a:off x="251520" y="6066178"/>
            <a:ext cx="1063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[reactor.cc]</a:t>
            </a:r>
          </a:p>
        </p:txBody>
      </p:sp>
    </p:spTree>
    <p:extLst>
      <p:ext uri="{BB962C8B-B14F-4D97-AF65-F5344CB8AC3E}">
        <p14:creationId xmlns:p14="http://schemas.microsoft.com/office/powerpoint/2010/main" val="158992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F5C16-80BC-AF15-F921-9949C984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Cyclus</a:t>
            </a:r>
            <a:r>
              <a:rPr lang="en-US" dirty="0"/>
              <a:t> 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C45BC-60EA-6F60-F4BC-C2C8F796D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presented results were calculated on my computer</a:t>
            </a:r>
          </a:p>
          <a:p>
            <a:pPr lvl="1"/>
            <a:r>
              <a:rPr lang="en-US" dirty="0"/>
              <a:t>The original script for visualizing the data was adopted to generate cartoons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User (the benchmark) specifies when LWRs are retired, so the presented result above does    not change regardless of how we treat the transmutation at the onset of decommission</a:t>
            </a:r>
          </a:p>
          <a:p>
            <a:pPr lvl="1"/>
            <a:r>
              <a:rPr lang="en-US" dirty="0"/>
              <a:t>No conspicuous difference w.r.t ‘</a:t>
            </a:r>
            <a:r>
              <a:rPr lang="en-US" dirty="0" err="1"/>
              <a:t>decom_transmute_all</a:t>
            </a:r>
            <a:r>
              <a:rPr lang="en-US" dirty="0"/>
              <a:t>’ option, except for the cartoon which shows unused TRU from UNF in time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17A59-E937-2B10-21B8-1D2D6BCAB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520BAE-738B-A8CF-F8AE-560909D3F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2" y="1268760"/>
            <a:ext cx="4395961" cy="31399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CCDA4A7-4174-DDDC-CACB-57A18B92D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94" y="1317701"/>
            <a:ext cx="4867342" cy="30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1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96180-7DD2-C45F-BCFC-A811C3D7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Cyclus</a:t>
            </a:r>
            <a:r>
              <a:rPr lang="en-US" dirty="0"/>
              <a:t> Results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D303265-E831-5F78-0ABA-46DFBEF83D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744" y="620713"/>
            <a:ext cx="7654512" cy="58801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8BDFE-5054-698E-141D-9E3F9A2D5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89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378AE-7BAE-1517-C0A5-507CC4AC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Cyclus</a:t>
            </a:r>
            <a:r>
              <a:rPr lang="en-US" dirty="0"/>
              <a:t> Results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0F430-8183-EC43-9BB3-8370C8D78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3" name="내용 개체 틀 5">
            <a:extLst>
              <a:ext uri="{FF2B5EF4-FFF2-40B4-BE49-F238E27FC236}">
                <a16:creationId xmlns:a16="http://schemas.microsoft.com/office/drawing/2014/main" id="{C2BD4925-13C5-F885-9326-16EF35820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9" y="548680"/>
            <a:ext cx="4932040" cy="30825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FF686CA-09BD-FFE3-10E7-1F0B0D847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483" y="567730"/>
            <a:ext cx="4587994" cy="29839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BBC0C47-B0A9-CC26-CCDA-FECD5D4D5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9" y="3564183"/>
            <a:ext cx="4853140" cy="29839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C15E322-E8B2-66B7-7664-98F8177CB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352" y="3537540"/>
            <a:ext cx="4550059" cy="30825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2E770F-FF13-BEEC-8A09-9DA0C50B9193}"/>
              </a:ext>
            </a:extLst>
          </p:cNvPr>
          <p:cNvSpPr txBox="1"/>
          <p:nvPr/>
        </p:nvSpPr>
        <p:spPr>
          <a:xfrm>
            <a:off x="5724128" y="4005064"/>
            <a:ext cx="1757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Limited to 2000t/yr</a:t>
            </a:r>
          </a:p>
        </p:txBody>
      </p:sp>
    </p:spTree>
    <p:extLst>
      <p:ext uri="{BB962C8B-B14F-4D97-AF65-F5344CB8AC3E}">
        <p14:creationId xmlns:p14="http://schemas.microsoft.com/office/powerpoint/2010/main" val="56602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7B98B-5EDF-1F0A-C6C8-24CFB8CF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Cyclus</a:t>
            </a:r>
            <a:r>
              <a:rPr lang="en-US" dirty="0"/>
              <a:t> Results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ECD9A86-B628-AEE2-40F6-220FE053F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2" y="914395"/>
            <a:ext cx="8229616" cy="502921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2D65E-4EEF-BAF9-3E0B-131E3691F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6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0F2EC-4E52-E6B3-E92B-75282DCB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Cyclus</a:t>
            </a:r>
            <a:r>
              <a:rPr lang="en-US" dirty="0"/>
              <a:t> Results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293E52-C346-797E-794B-0F304D346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DDD230-1753-17F1-D0E7-A134266ED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4495"/>
            <a:ext cx="4858501" cy="3036563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C95DD64-55EF-484C-700E-93FD4B6DC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909" y="1934494"/>
            <a:ext cx="4656336" cy="30365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444EBE-CA6C-3004-D152-485EB9DADA52}"/>
              </a:ext>
            </a:extLst>
          </p:cNvPr>
          <p:cNvSpPr txBox="1"/>
          <p:nvPr/>
        </p:nvSpPr>
        <p:spPr>
          <a:xfrm>
            <a:off x="1259632" y="4943623"/>
            <a:ext cx="2641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decom_transmute_all</a:t>
            </a:r>
            <a:r>
              <a:rPr lang="en-US" sz="1600" dirty="0"/>
              <a:t> = 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177FD-6087-7FA7-DD7B-08B4B5D2204B}"/>
              </a:ext>
            </a:extLst>
          </p:cNvPr>
          <p:cNvSpPr txBox="1"/>
          <p:nvPr/>
        </p:nvSpPr>
        <p:spPr>
          <a:xfrm>
            <a:off x="5677734" y="4943623"/>
            <a:ext cx="2641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decom_transmute_all</a:t>
            </a:r>
            <a:r>
              <a:rPr lang="en-US" sz="1600" dirty="0"/>
              <a:t> = T</a:t>
            </a:r>
          </a:p>
        </p:txBody>
      </p:sp>
    </p:spTree>
    <p:extLst>
      <p:ext uri="{BB962C8B-B14F-4D97-AF65-F5344CB8AC3E}">
        <p14:creationId xmlns:p14="http://schemas.microsoft.com/office/powerpoint/2010/main" val="229184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E1FE-9A39-4830-832B-4A93BF34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16848-92F6-45BC-BB4E-7936CF3D9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2BD66-4B5F-4628-ABD5-758509CE83AF}"/>
              </a:ext>
            </a:extLst>
          </p:cNvPr>
          <p:cNvSpPr txBox="1"/>
          <p:nvPr/>
        </p:nvSpPr>
        <p:spPr>
          <a:xfrm>
            <a:off x="3384723" y="5623708"/>
            <a:ext cx="237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Any Questions?</a:t>
            </a:r>
            <a:endParaRPr lang="ko-KR" altLang="en-US" sz="2400" b="1" dirty="0"/>
          </a:p>
        </p:txBody>
      </p:sp>
      <p:pic>
        <p:nvPicPr>
          <p:cNvPr id="1030" name="Picture 6" descr="Bucky Badger - Wikipedia">
            <a:extLst>
              <a:ext uri="{FF2B5EF4-FFF2-40B4-BE49-F238E27FC236}">
                <a16:creationId xmlns:a16="http://schemas.microsoft.com/office/drawing/2014/main" id="{1E705904-CF09-66E4-D332-8DA5BE18F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9" y="980728"/>
            <a:ext cx="3150697" cy="404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E222C4B-1BD1-211E-0112-EA3206E5E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388" y="1453425"/>
            <a:ext cx="4788076" cy="326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69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28617</TotalTime>
  <Words>596</Words>
  <Application>Microsoft Office PowerPoint</Application>
  <PresentationFormat>화면 슬라이드 쇼(4:3)</PresentationFormat>
  <Paragraphs>98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Euclid</vt:lpstr>
      <vt:lpstr>맑은 고딕</vt:lpstr>
      <vt:lpstr>Arial</vt:lpstr>
      <vt:lpstr>Book Antiqua</vt:lpstr>
      <vt:lpstr>Times New Roman</vt:lpstr>
      <vt:lpstr>RDTL_PPT_Template_(20%_cooler)</vt:lpstr>
      <vt:lpstr>Fuel Cycle Benchmark Result (Rekindling Jin Hwan Bae’s Work)</vt:lpstr>
      <vt:lpstr>Motivation &amp; Objectives</vt:lpstr>
      <vt:lpstr>Problem Description</vt:lpstr>
      <vt:lpstr>Problem Description</vt:lpstr>
      <vt:lpstr>Benchmark Results</vt:lpstr>
      <vt:lpstr>Benchmark Results</vt:lpstr>
      <vt:lpstr>Cyclus Modelling Assmuption</vt:lpstr>
      <vt:lpstr>CYCAMORE: Reactor</vt:lpstr>
      <vt:lpstr>Cyclus Results</vt:lpstr>
      <vt:lpstr>Cyclus Results</vt:lpstr>
      <vt:lpstr>Cyclus Results</vt:lpstr>
      <vt:lpstr>Cyclus Results</vt:lpstr>
      <vt:lpstr>Cyclus Results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819</cp:revision>
  <cp:lastPrinted>2014-09-26T06:44:14Z</cp:lastPrinted>
  <dcterms:created xsi:type="dcterms:W3CDTF">2013-05-26T12:21:08Z</dcterms:created>
  <dcterms:modified xsi:type="dcterms:W3CDTF">2026-04-15T20:01:28Z</dcterms:modified>
</cp:coreProperties>
</file>